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108960"/>
          </a:xfrm>
          <a:prstGeom prst="rect">
            <a:avLst/>
          </a:prstGeom>
          <a:solidFill>
            <a:srgbClr val="5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c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"/>
            <a:ext cx="460577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972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Calibri"/>
              </a:rPr>
              <a:t>MinePulse AI</a:t>
            </a:r>
          </a:p>
          <a:p>
            <a:pPr>
              <a:spcBef>
                <a:spcPts val="800"/>
              </a:spcBef>
            </a:pPr>
            <a:r>
              <a:rPr sz="2000" b="0">
                <a:solidFill>
                  <a:srgbClr val="FFFFFF"/>
                </a:solidFill>
                <a:latin typeface="Calibri"/>
              </a:rPr>
              <a:t>LangGraph d’optimisation — anticipation &amp; décisions pour plus de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3D8C14"/>
                </a:solidFill>
                <a:latin typeface="Calibri"/>
              </a:rPr>
              <a:t>Ce n’est pas un écran de supervision de plus.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1D21"/>
                </a:solidFill>
                <a:latin typeface="Calibri"/>
              </a:rPr>
              <a:t>Les infos Film / Carte / Parc existent déjà chez l’opérateur.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1D21"/>
                </a:solidFill>
                <a:latin typeface="Calibri"/>
              </a:rPr>
              <a:t>Le projet = un agent IA connecté à tout le poste, qui anticipe les problèmes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1D21"/>
                </a:solidFill>
                <a:latin typeface="Calibri"/>
              </a:rPr>
              <a:t>et propose les meilleures décisions d’optimisation (humain au final).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C1D21"/>
                </a:solidFill>
                <a:latin typeface="Calibri"/>
              </a:rPr>
              <a:t>Démo : Khouribga — Merah El Ahrach · Poste matin · Mode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3D8C14"/>
                </a:solidFill>
                <a:latin typeface="Calibri"/>
              </a:rPr>
              <a:t>La vraie idée du projet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6B7280"/>
                </a:solidFill>
                <a:latin typeface="Calibri"/>
              </a:rPr>
              <a:t>Pas afficher des infos — les optimiser avec l’IA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1D21"/>
                </a:solidFill>
                <a:latin typeface="Calibri"/>
              </a:rPr>
              <a:t>Ce que MinePulse n’est 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Les données opérationnelles existent déjà — on les réutilise comme entrée de l’agent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1088136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>
                <a:solidFill>
                  <a:srgbClr val="1C1D21"/>
                </a:solidFill>
                <a:latin typeface="Calibri"/>
              </a:rPr>
              <a:t>•  Un nouveau tableau Film / Carte / Parc pour remplacer OPM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C1D21"/>
                </a:solidFill>
                <a:latin typeface="Calibri"/>
              </a:rPr>
              <a:t>•  Une copie d’écrans que le chef de poste a déjà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C1D21"/>
                </a:solidFill>
                <a:latin typeface="Calibri"/>
              </a:rPr>
              <a:t>•  Un projet « dashboard » ou visualisation seule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C1D21"/>
                </a:solidFill>
                <a:latin typeface="Calibri"/>
              </a:rPr>
              <a:t>•  Une IA décorative (chips génériques sans décision)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1D21"/>
                </a:solidFill>
                <a:latin typeface="Calibri"/>
              </a:rPr>
              <a:t>Ce que MinePulse 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Produit = intelligence de décision · UI = capteurs + surfaces d’action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1088136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>
                <a:solidFill>
                  <a:srgbClr val="1C1D21"/>
                </a:solidFill>
                <a:latin typeface="Calibri"/>
              </a:rPr>
              <a:t>•  Un système IA type LangGraph : graphe d’agents connecté à tout le poste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C1D21"/>
                </a:solidFill>
                <a:latin typeface="Calibri"/>
              </a:rPr>
              <a:t>•  Il lit Film, Carte, Parc, Exceptions, Performance et Événements ensemble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C1D21"/>
                </a:solidFill>
                <a:latin typeface="Calibri"/>
              </a:rPr>
              <a:t>•  Il anticipe les problèmes futurs (congestion, attente, trou de production)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C1D21"/>
                </a:solidFill>
                <a:latin typeface="Calibri"/>
              </a:rPr>
              <a:t>•  Il propose les meilleures décisions d’optimisation pour récupérer du tonnage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C1D21"/>
                </a:solidFill>
                <a:latin typeface="Calibri"/>
              </a:rPr>
              <a:t>•  L’humain valide : Préparer / Marquer / Ignorer — jamais d’auto-application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C1D21"/>
                </a:solidFill>
                <a:latin typeface="Calibri"/>
              </a:rPr>
              <a:t>Sans AI vs Avec MinePulse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De la réaction fragmentée → à l’anticipation + décision cohérente</a:t>
            </a:r>
          </a:p>
        </p:txBody>
      </p:sp>
      <p:pic>
        <p:nvPicPr>
          <p:cNvPr id="6" name="Picture 5" descr="ai-value-before-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79552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3D8C14"/>
                </a:solidFill>
                <a:latin typeface="Calibri"/>
              </a:rPr>
              <a:t>Architecture IA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6B7280"/>
                </a:solidFill>
                <a:latin typeface="Calibri"/>
              </a:rPr>
              <a:t>LangGraph au centre — tous les écrans comme nœuds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C1D21"/>
                </a:solidFill>
                <a:latin typeface="Calibri"/>
              </a:rPr>
              <a:t>Orchestration LangGraph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Un agent connecté à Film, Carte, Parc, Exceptions, Performance, Optimisation</a:t>
            </a:r>
          </a:p>
        </p:txBody>
      </p:sp>
      <p:pic>
        <p:nvPicPr>
          <p:cNvPr id="6" name="Picture 5" descr="ai-langgraph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79552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C1D21"/>
                </a:solidFill>
                <a:latin typeface="Calibri"/>
              </a:rPr>
              <a:t>Boucle de décision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Télémétrie → Diagnostic → Anticipation → Options → Décision humaine</a:t>
            </a:r>
          </a:p>
        </p:txBody>
      </p:sp>
      <p:pic>
        <p:nvPicPr>
          <p:cNvPr id="6" name="Picture 5" descr="ai-decision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79552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C1D21"/>
                </a:solidFill>
                <a:latin typeface="Calibri"/>
              </a:rPr>
              <a:t>Anticipation des problèmes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Exemple : risque Banc B — agir avant que le trou de production s’aggrave</a:t>
            </a:r>
          </a:p>
        </p:txBody>
      </p:sp>
      <p:pic>
        <p:nvPicPr>
          <p:cNvPr id="6" name="Picture 5" descr="ai-anticipation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79552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C1D21"/>
                </a:solidFill>
                <a:latin typeface="Calibri"/>
              </a:rPr>
              <a:t>Humain dans la boucle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L’IA propose — l’opérateur décide (Préparer / Marquer / Ignorer)</a:t>
            </a:r>
          </a:p>
        </p:txBody>
      </p:sp>
      <p:pic>
        <p:nvPicPr>
          <p:cNvPr id="6" name="Picture 5" descr="ai-human-in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79552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3D8C14"/>
                </a:solidFill>
                <a:latin typeface="Calibri"/>
              </a:rPr>
              <a:t>Monde de démo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6B7280"/>
                </a:solidFill>
                <a:latin typeface="Calibri"/>
              </a:rPr>
              <a:t>Le scénario que l’agent raisonne — une seule vérité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1D21"/>
                </a:solidFill>
                <a:latin typeface="Calibri"/>
              </a:rPr>
              <a:t>Ce que l’agent voit (scénario Merah El Ahrach)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530352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2801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D8C14"/>
                </a:solidFill>
                <a:latin typeface="Calibri"/>
              </a:rPr>
              <a:t>Signaux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C1D21"/>
                </a:solidFill>
                <a:latin typeface="Calibri"/>
              </a:rPr>
              <a:t>•  Production 7 231 / 8 160 t (−11 %)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C1D21"/>
                </a:solidFill>
                <a:latin typeface="Calibri"/>
              </a:rPr>
              <a:t>•  Banc B saturé : file 7 · cap. 3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C1D21"/>
                </a:solidFill>
                <a:latin typeface="Calibri"/>
              </a:rPr>
              <a:t>•  EXC-027 en maintenance (indisponible)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C1D21"/>
                </a:solidFill>
                <a:latin typeface="Calibri"/>
              </a:rPr>
              <a:t>•  TRK-012 arrêt non défini ~23 min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C1D21"/>
                </a:solidFill>
                <a:latin typeface="Calibri"/>
              </a:rPr>
              <a:t>•  TRK-004 perte télémétrie ~5 min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C1D21"/>
                </a:solidFill>
                <a:latin typeface="Calibri"/>
              </a:rPr>
              <a:t>•  Cycle moyen qui remonte après 11:00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051560"/>
            <a:ext cx="530352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2801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D8C14"/>
                </a:solidFill>
                <a:latin typeface="Calibri"/>
              </a:rPr>
              <a:t>Décision IA prioritaire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C1D21"/>
                </a:solidFill>
                <a:latin typeface="Calibri"/>
              </a:rPr>
              <a:t>•  Rediriger 3–4 camions Banc B → Banc 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C1D21"/>
                </a:solidFill>
                <a:latin typeface="Calibri"/>
              </a:rPr>
              <a:t>•  Ne jamais traiter EXC-027 comme « disponible »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C1D21"/>
                </a:solidFill>
                <a:latin typeface="Calibri"/>
              </a:rPr>
              <a:t>•  Estimer gain t/h si le plan est préparé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C1D21"/>
                </a:solidFill>
                <a:latin typeface="Calibri"/>
              </a:rPr>
              <a:t>•  Exposer confiance + preuves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C1D21"/>
                </a:solidFill>
                <a:latin typeface="Calibri"/>
              </a:rPr>
              <a:t>•  Laisser le chef de poste décider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3D8C14"/>
                </a:solidFill>
                <a:latin typeface="Calibri"/>
              </a:rPr>
              <a:t>Les écrans = surfaces de l’IA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6B7280"/>
                </a:solidFill>
                <a:latin typeface="Calibri"/>
              </a:rPr>
              <a:t>Pas le produit — le graphe d’entrées / sorties de l’agent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1D21"/>
                </a:solidFill>
                <a:latin typeface="Calibri"/>
              </a:rPr>
              <a:t>Rôle de chaque surface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868680"/>
            <a:ext cx="1088136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>
                <a:solidFill>
                  <a:srgbClr val="1C1D21"/>
                </a:solidFill>
                <a:latin typeface="Calibri"/>
              </a:rPr>
              <a:t>•  Exceptions — où l’IA explique « pourquoi » et pointe l’action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C1D21"/>
                </a:solidFill>
                <a:latin typeface="Calibri"/>
              </a:rPr>
              <a:t>•  Carte — contexte spatial (zones, files) pour le raisonnement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C1D21"/>
                </a:solidFill>
                <a:latin typeface="Calibri"/>
              </a:rPr>
              <a:t>•  Film — preuve temporelle des états (attente / arrêt)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C1D21"/>
                </a:solidFill>
                <a:latin typeface="Calibri"/>
              </a:rPr>
              <a:t>•  Parc — cycles et engins concernés par la reco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C1D21"/>
                </a:solidFill>
                <a:latin typeface="Calibri"/>
              </a:rPr>
              <a:t>•  Performance — mesure l’écart que l’IA cherche à combler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C1D21"/>
                </a:solidFill>
                <a:latin typeface="Calibri"/>
              </a:rPr>
              <a:t>•  Optimisation — cockpit de décision LangGraph (cœur produit)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C1D21"/>
                </a:solidFill>
                <a:latin typeface="Calibri"/>
              </a:rPr>
              <a:t>•  Événements — flux d’anomalies que l’agent corréle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1D21"/>
                </a:solidFill>
                <a:latin typeface="Calibri"/>
              </a:rPr>
              <a:t>Surface IA — Optimisation (cœur)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Situation → options → simulation → décision humaine (pas d’appliquer auto)</a:t>
            </a:r>
          </a:p>
        </p:txBody>
      </p:sp>
      <p:pic>
        <p:nvPicPr>
          <p:cNvPr id="6" name="Picture 5" descr="mp-optimis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95910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1D21"/>
                </a:solidFill>
                <a:latin typeface="Calibri"/>
              </a:rPr>
              <a:t>Surface IA — Exceptions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Brief + hypothèses / analyse IA sur sélection — pas un héros IA géant</a:t>
            </a:r>
          </a:p>
        </p:txBody>
      </p:sp>
      <p:pic>
        <p:nvPicPr>
          <p:cNvPr id="6" name="Picture 5" descr="mp-exce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95910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1D21"/>
                </a:solidFill>
                <a:latin typeface="Calibri"/>
              </a:rPr>
              <a:t>Entrée spatiale — Carte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Carte MapLibre : l’agent localise congestion et engins spotlight</a:t>
            </a:r>
          </a:p>
        </p:txBody>
      </p:sp>
      <p:pic>
        <p:nvPicPr>
          <p:cNvPr id="6" name="Picture 5" descr="mp-ca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396451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1D21"/>
                </a:solidFill>
                <a:latin typeface="Calibri"/>
              </a:rPr>
              <a:t>Entrée temporelle — Film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Preuve des états du poste pour le raisonnement (attente orange / arrêt rouge)</a:t>
            </a:r>
          </a:p>
        </p:txBody>
      </p:sp>
      <p:pic>
        <p:nvPicPr>
          <p:cNvPr id="6" name="Picture 5" descr="mp-fi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95910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1D21"/>
                </a:solidFill>
                <a:latin typeface="Calibri"/>
              </a:rPr>
              <a:t>Entrée flotte — Parc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Cycles et disponibilité : variables du modèle d’optimisation</a:t>
            </a:r>
          </a:p>
        </p:txBody>
      </p:sp>
      <p:pic>
        <p:nvPicPr>
          <p:cNvPr id="6" name="Picture 5" descr="mp-p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95910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1D21"/>
                </a:solidFill>
                <a:latin typeface="Calibri"/>
              </a:rPr>
              <a:t>Mesure —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L’objectif que l’IA défend : 7 231 / 8 160 t, décrochage depuis 10:30</a:t>
            </a:r>
          </a:p>
        </p:txBody>
      </p:sp>
      <p:pic>
        <p:nvPicPr>
          <p:cNvPr id="6" name="Picture 5" descr="mp-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95910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1D21"/>
                </a:solidFill>
                <a:latin typeface="Calibri"/>
              </a:rPr>
              <a:t>Flux — Événements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Anomalies live corrélées par l’agent (critique / warning / info)</a:t>
            </a:r>
          </a:p>
        </p:txBody>
      </p:sp>
      <p:pic>
        <p:nvPicPr>
          <p:cNvPr id="6" name="Picture 5" descr="mp-even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95910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3D8C14"/>
                </a:solidFill>
                <a:latin typeface="Calibri"/>
              </a:rPr>
              <a:t>Roadmap IA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6B7280"/>
                </a:solidFill>
                <a:latin typeface="Calibri"/>
              </a:rPr>
              <a:t>Du prototype connecté → LangGraph production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1D21"/>
                </a:solidFill>
                <a:latin typeface="Calibri"/>
              </a:rPr>
              <a:t>Aujourd’hui vs demain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530352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2801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D8C14"/>
                </a:solidFill>
                <a:latin typeface="Calibri"/>
              </a:rPr>
              <a:t>Prototype actuel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C1D21"/>
                </a:solidFill>
                <a:latin typeface="Calibri"/>
              </a:rPr>
              <a:t>•  Raisonnement scénario cohérent (mock)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C1D21"/>
                </a:solidFill>
                <a:latin typeface="Calibri"/>
              </a:rPr>
              <a:t>•  Bundle d’optimisation + slots IA contextuels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C1D21"/>
                </a:solidFill>
                <a:latin typeface="Calibri"/>
              </a:rPr>
              <a:t>•  Surfaces UI branchées sur une seule vérité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C1D21"/>
                </a:solidFill>
                <a:latin typeface="Calibri"/>
              </a:rPr>
              <a:t>•  Décision humaine explicite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C1D21"/>
                </a:solidFill>
                <a:latin typeface="Calibri"/>
              </a:rPr>
              <a:t>•  Carte / Film / Parc comme capteurs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051560"/>
            <a:ext cx="530352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2801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D8C14"/>
                </a:solidFill>
                <a:latin typeface="Calibri"/>
              </a:rPr>
              <a:t>Cible LangGraph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C1D21"/>
                </a:solidFill>
                <a:latin typeface="Calibri"/>
              </a:rPr>
              <a:t>•  Graphe multi-nœuds (diagnostic, anticipation, reco)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C1D21"/>
                </a:solidFill>
                <a:latin typeface="Calibri"/>
              </a:rPr>
              <a:t>•  Mémoire de poste + outils (zones, engins, events)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C1D21"/>
                </a:solidFill>
                <a:latin typeface="Calibri"/>
              </a:rPr>
              <a:t>•  Simulation what-if avant décision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C1D21"/>
                </a:solidFill>
                <a:latin typeface="Calibri"/>
              </a:rPr>
              <a:t>•  Connexion télémétrie / GIS OCP réelle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C1D21"/>
                </a:solidFill>
                <a:latin typeface="Calibri"/>
              </a:rPr>
              <a:t>•  Audit, confiance, et boucle d’apprentissage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3108960"/>
          </a:xfrm>
          <a:prstGeom prst="rect">
            <a:avLst/>
          </a:prstGeom>
          <a:solidFill>
            <a:srgbClr val="5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MinePulse = AI d’optimisation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LangGraph connecté au poste · anticipe · décide mieux · plus de production
Les écrans montrent — l’IA optimise.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